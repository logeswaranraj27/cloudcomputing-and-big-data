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9" r:id="rId3"/>
    <p:sldId id="260" r:id="rId4"/>
    <p:sldId id="261" r:id="rId5"/>
    <p:sldId id="262" r:id="rId6"/>
    <p:sldId id="263" r:id="rId7"/>
    <p:sldId id="265" r:id="rId8"/>
    <p:sldId id="270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658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0173951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4678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9083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02354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76581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5855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33923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13375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4269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16228"/>
            <a:ext cx="8839200" cy="113539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35527" y="1736895"/>
            <a:ext cx="8444441" cy="417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SzPts val="2400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Internet of Things (IoT) and Cloud Computing</a:t>
            </a:r>
          </a:p>
          <a:p>
            <a:pPr algn="ctr">
              <a:buSzPts val="2400"/>
            </a:pP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CSA1506</a:t>
            </a:r>
          </a:p>
          <a:p>
            <a:pPr algn="ctr">
              <a:buSzPts val="2400"/>
            </a:pP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CLOUD COMPUTING AND BIG DATA ANALYSIS</a:t>
            </a:r>
            <a:endParaRPr sz="2400" b="1" dirty="0">
              <a:solidFill>
                <a:schemeClr val="tx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692884" y="3482234"/>
            <a:ext cx="52452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</a:t>
            </a:r>
            <a:endParaRPr sz="1800" b="0" i="0" u="none" strike="noStrike" cap="none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	</a:t>
            </a:r>
            <a:r>
              <a:rPr lang="en-GB" sz="1800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Logeshwaran</a:t>
            </a:r>
            <a:r>
              <a:rPr lang="en-GB" sz="18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 (192511175)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endParaRPr lang="en-GB" sz="18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 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52400" y="3060864"/>
            <a:ext cx="2305200" cy="1178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778100" cy="90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87789" y="152400"/>
            <a:ext cx="904161" cy="9085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1032164" y="357550"/>
            <a:ext cx="7234061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3000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is IoT and Cloud Computing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Integration?</a:t>
            </a:r>
            <a:endParaRPr sz="2800"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217875" y="1158825"/>
            <a:ext cx="8543100" cy="3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IoT Definition: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Network of connected devices embedded with sensors, software, and connectivity capabilities to collect and exchange data over the internet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Cloud Computing: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On-demand delivery of computing resources (compute, storage, analytics) over the internet with pay-as-you-go </a:t>
            </a: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pricing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IoT + Cloud = Connected Ecosystems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7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1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8735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Times New Roman"/>
              <a:buChar char="❏"/>
            </a:pPr>
            <a:endParaRPr sz="1800" dirty="0">
              <a:solidFill>
                <a:schemeClr val="tx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700" y="79000"/>
            <a:ext cx="778100" cy="90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39139" y="79000"/>
            <a:ext cx="904161" cy="9085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/>
        </p:nvSpPr>
        <p:spPr>
          <a:xfrm>
            <a:off x="997527" y="218275"/>
            <a:ext cx="72081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IoT-to-Cloud Architecture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200700" y="1126825"/>
            <a:ext cx="8742600" cy="36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i="0" u="none" strike="noStrike" cap="none" dirty="0">
              <a:solidFill>
                <a:schemeClr val="dk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457200" y="1371600"/>
            <a:ext cx="1645920" cy="1097280"/>
          </a:xfrm>
          <a:prstGeom prst="roundRect">
            <a:avLst>
              <a:gd name="adj" fmla="val 8333"/>
            </a:avLst>
          </a:prstGeom>
          <a:solidFill>
            <a:srgbClr val="FF6B6B"/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645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IoT Devices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&amp; Sensors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2286000" y="1874520"/>
            <a:ext cx="731520" cy="9144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9" name="Shape 5"/>
          <p:cNvSpPr/>
          <p:nvPr/>
        </p:nvSpPr>
        <p:spPr>
          <a:xfrm>
            <a:off x="3200400" y="1371600"/>
            <a:ext cx="1645920" cy="1097280"/>
          </a:xfrm>
          <a:prstGeom prst="roundRect">
            <a:avLst>
              <a:gd name="adj" fmla="val 8333"/>
            </a:avLst>
          </a:prstGeom>
          <a:solidFill>
            <a:srgbClr val="4ECDC4"/>
          </a:solidFill>
          <a:ln/>
        </p:spPr>
      </p:sp>
      <p:sp>
        <p:nvSpPr>
          <p:cNvPr id="10" name="Text 6"/>
          <p:cNvSpPr/>
          <p:nvPr/>
        </p:nvSpPr>
        <p:spPr>
          <a:xfrm>
            <a:off x="3200400" y="1645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Edge Gateway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Protocols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5029200" y="1874520"/>
            <a:ext cx="731520" cy="9144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2" name="Shape 8"/>
          <p:cNvSpPr/>
          <p:nvPr/>
        </p:nvSpPr>
        <p:spPr>
          <a:xfrm>
            <a:off x="5943600" y="1371600"/>
            <a:ext cx="1645920" cy="1097280"/>
          </a:xfrm>
          <a:prstGeom prst="roundRect">
            <a:avLst>
              <a:gd name="adj" fmla="val 8333"/>
            </a:avLst>
          </a:prstGeom>
          <a:solidFill>
            <a:srgbClr val="4A90E2"/>
          </a:solidFill>
          <a:ln/>
        </p:spPr>
      </p:sp>
      <p:sp>
        <p:nvSpPr>
          <p:cNvPr id="13" name="Text 9"/>
          <p:cNvSpPr/>
          <p:nvPr/>
        </p:nvSpPr>
        <p:spPr>
          <a:xfrm>
            <a:off x="5943600" y="16002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Cloud Platform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(AWS, Azure,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GCP)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41218" y="2902527"/>
            <a:ext cx="56041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Architecture Components:</a:t>
            </a:r>
            <a:endParaRPr lang="en-US" sz="2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Actuators: Data collection and action execution</a:t>
            </a:r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Connectivity: </a:t>
            </a:r>
            <a:r>
              <a:rPr lang="en-US" sz="16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5G, NB-IoT, </a:t>
            </a:r>
            <a:r>
              <a:rPr lang="en-US" sz="16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</a:t>
            </a:r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Services: Compute, storage, analytics, ML</a:t>
            </a:r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45473"/>
            <a:ext cx="778100" cy="90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87789" y="152400"/>
            <a:ext cx="904161" cy="9085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 txBox="1"/>
          <p:nvPr/>
        </p:nvSpPr>
        <p:spPr>
          <a:xfrm>
            <a:off x="930500" y="364478"/>
            <a:ext cx="7335725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SzPts val="3000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Benefits &amp; Challenges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152400" y="775855"/>
            <a:ext cx="8719200" cy="436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>
              <a:lnSpc>
                <a:spcPct val="150000"/>
              </a:lnSpc>
            </a:pPr>
            <a:r>
              <a:rPr 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Benefits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Scalability: Handle millions of devices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Real-time Analytics: Instant insights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Cost Efficiency: Pay-as-you-use model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Remote Management: Access anywhere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Machine Learning: AI-driven decisions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       Challenges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⚠ Security &amp; Privacy: Data protection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⚠ Interoperability: Device compatibility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⚠ Bandwidth: High data volumes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⚠ Device Management: Firmware </a:t>
            </a:r>
            <a:r>
              <a:rPr lang="en-US" sz="1800" dirty="0" smtClean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updates</a:t>
            </a:r>
          </a:p>
          <a:p>
            <a:r>
              <a:rPr lang="en-US" sz="18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⚠ Latency: Real-time response needs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778100" cy="90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87789" y="152400"/>
            <a:ext cx="904161" cy="90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/>
          <p:cNvSpPr txBox="1"/>
          <p:nvPr/>
        </p:nvSpPr>
        <p:spPr>
          <a:xfrm>
            <a:off x="1066800" y="357550"/>
            <a:ext cx="7199425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Real-World Application: Smart Hostel Infrastructure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615300" y="1386532"/>
            <a:ext cx="8528700" cy="32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190500">
              <a:buSzPts val="2400"/>
            </a:pPr>
            <a:r>
              <a:rPr lang="en-US" sz="2400" b="1" dirty="0">
                <a:solidFill>
                  <a:srgbClr val="1F3A9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190500">
              <a:buSzPts val="2400"/>
            </a:pPr>
            <a:r>
              <a:rPr lang="en-US" sz="20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Manual water meter readings and reactive electricity management led to waste and infrastructure failures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190500">
              <a:buSzPts val="2400"/>
            </a:pPr>
            <a:r>
              <a:rPr lang="en-US" sz="2400" b="1" dirty="0">
                <a:solidFill>
                  <a:srgbClr val="1F3A9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Solution: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190500">
              <a:buSzPts val="2400"/>
            </a:pPr>
            <a:r>
              <a:rPr lang="en-US" sz="20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IoT sensors connected to cloud platform for real-time monitoring with predictive </a:t>
            </a:r>
            <a:r>
              <a:rPr lang="en-US" sz="2000" dirty="0" smtClean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analytics</a:t>
            </a:r>
          </a:p>
          <a:p>
            <a:pPr marL="342900" indent="-190500">
              <a:buSzPts val="2400"/>
            </a:pPr>
            <a:endParaRPr lang="en-US" sz="2000" dirty="0">
              <a:solidFill>
                <a:srgbClr val="2C3E50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342900" indent="-190500">
              <a:buSzPts val="2400"/>
            </a:pPr>
            <a:r>
              <a:rPr lang="en-US" sz="2000" b="1" dirty="0">
                <a:solidFill>
                  <a:srgbClr val="1F3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39.7% water consumption reduction | 30.1% electricity optimization | Predictive maintenance with ML algorithms</a:t>
            </a:r>
            <a:endParaRPr lang="en-US" sz="2000" dirty="0"/>
          </a:p>
          <a:p>
            <a:pPr marL="342900" indent="-190500">
              <a:buSzPts val="2400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190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endParaRPr sz="200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778100" cy="90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87789" y="152400"/>
            <a:ext cx="904161" cy="90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 txBox="1"/>
          <p:nvPr/>
        </p:nvSpPr>
        <p:spPr>
          <a:xfrm>
            <a:off x="1074975" y="210375"/>
            <a:ext cx="69129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Industry Applications of IoT + Cloud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-455659" y="825898"/>
            <a:ext cx="9252900" cy="3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</a:t>
            </a:r>
            <a:r>
              <a:rPr lang="en-US" sz="2000" b="1" dirty="0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</a:p>
          <a:p>
            <a:pPr algn="ctr">
              <a:lnSpc>
                <a:spcPct val="200000"/>
              </a:lnSpc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Manufacturing</a:t>
            </a:r>
            <a:endParaRPr lang="en-US" sz="2000" dirty="0">
              <a:solidFill>
                <a:schemeClr val="tx1"/>
              </a:solidFill>
            </a:endParaRPr>
          </a:p>
          <a:p>
            <a:pPr algn="ctr">
              <a:lnSpc>
                <a:spcPct val="200000"/>
              </a:lnSpc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Agriculture</a:t>
            </a:r>
            <a:endParaRPr lang="en-US" sz="2000" dirty="0">
              <a:solidFill>
                <a:schemeClr val="tx1"/>
              </a:solidFill>
            </a:endParaRPr>
          </a:p>
          <a:p>
            <a:pPr algn="ctr">
              <a:lnSpc>
                <a:spcPct val="200000"/>
              </a:lnSpc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Smart Cities</a:t>
            </a:r>
            <a:endParaRPr lang="en-US" sz="2000" dirty="0">
              <a:solidFill>
                <a:schemeClr val="tx1"/>
              </a:solidFill>
            </a:endParaRPr>
          </a:p>
          <a:p>
            <a:pPr algn="ctr">
              <a:lnSpc>
                <a:spcPct val="200000"/>
              </a:lnSpc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Building </a:t>
            </a:r>
            <a:r>
              <a:rPr lang="en-US" sz="20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2000" dirty="0">
              <a:solidFill>
                <a:schemeClr val="tx1"/>
              </a:solidFill>
            </a:endParaRPr>
          </a:p>
          <a:p>
            <a:pPr algn="ctr">
              <a:lnSpc>
                <a:spcPct val="200000"/>
              </a:lnSpc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Connected Vehicles</a:t>
            </a:r>
            <a:endParaRPr lang="en-US" sz="2000" dirty="0">
              <a:solidFill>
                <a:schemeClr val="tx1"/>
              </a:solidFill>
            </a:endParaRPr>
          </a:p>
          <a:p>
            <a:pPr marL="0" indent="0" algn="ctr">
              <a:lnSpc>
                <a:spcPct val="200000"/>
              </a:lnSpc>
              <a:buNone/>
            </a:pPr>
            <a:endParaRPr 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778100" cy="90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87789" y="152400"/>
            <a:ext cx="904161" cy="90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2"/>
          <p:cNvSpPr txBox="1"/>
          <p:nvPr/>
        </p:nvSpPr>
        <p:spPr>
          <a:xfrm>
            <a:off x="522150" y="294975"/>
            <a:ext cx="78411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Takeaways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Google Shape;129;p22"/>
          <p:cNvSpPr txBox="1"/>
          <p:nvPr/>
        </p:nvSpPr>
        <p:spPr>
          <a:xfrm>
            <a:off x="217450" y="1203525"/>
            <a:ext cx="8674500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● IoT + Cloud creates intelligent, scalable ecosystems for real-time data processing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● Transforming traditional operations through automation and predictive analytics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● Balancing benefits (scalability, cost-efficiency) with security and interoperability challenges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● Wide adoption across healthcare, manufacturing, agriculture, and smart infrastructure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● Future: Edge computing, 5G integration, and AI-powered autonomous systems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778100" cy="90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87789" y="152400"/>
            <a:ext cx="904161" cy="90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2900" y="152400"/>
            <a:ext cx="6752489" cy="4779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335</Words>
  <Application>Microsoft Office PowerPoint</Application>
  <PresentationFormat>On-screen Show (16:9)</PresentationFormat>
  <Paragraphs>61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Noto Sans Symbols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Sonaa.R</dc:creator>
  <cp:lastModifiedBy>Sonaa.R</cp:lastModifiedBy>
  <cp:revision>14</cp:revision>
  <dcterms:modified xsi:type="dcterms:W3CDTF">2026-07-23T03:35:00Z</dcterms:modified>
</cp:coreProperties>
</file>